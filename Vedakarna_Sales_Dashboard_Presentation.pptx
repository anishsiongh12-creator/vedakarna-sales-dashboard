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961120" y="-640080"/>
            <a:ext cx="4114800" cy="4114800"/>
          </a:xfrm>
          <a:prstGeom prst="ellipse">
            <a:avLst/>
          </a:prstGeom>
          <a:solidFill>
            <a:srgbClr val="1E5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784080" y="4480560"/>
            <a:ext cx="2926080" cy="2926080"/>
          </a:xfrm>
          <a:prstGeom prst="ellipse">
            <a:avLst/>
          </a:prstGeom>
          <a:solidFill>
            <a:srgbClr val="2AB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046720" y="5212080"/>
            <a:ext cx="1097280" cy="1097280"/>
          </a:xfrm>
          <a:prstGeom prst="ellipse">
            <a:avLst/>
          </a:prstGeom>
          <a:solidFill>
            <a:srgbClr val="F5B8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051560"/>
            <a:ext cx="71323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2ABEBE"/>
                </a:solidFill>
                <a:latin typeface="Aptos"/>
              </a:rPr>
              <a:t>VEDAKARNA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691640"/>
            <a:ext cx="7955279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Aptos"/>
              </a:rPr>
              <a:t>SALES DASHBOARD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880360"/>
            <a:ext cx="67665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DCE6FA"/>
                </a:solidFill>
                <a:latin typeface="Aptos"/>
              </a:rPr>
              <a:t>A visual overview of sales performance, profit, quantity,
payment modes and product/category trends</a:t>
            </a:r>
          </a:p>
        </p:txBody>
      </p:sp>
      <p:sp>
        <p:nvSpPr>
          <p:cNvPr id="9" name="Rectangle 8"/>
          <p:cNvSpPr/>
          <p:nvPr/>
        </p:nvSpPr>
        <p:spPr>
          <a:xfrm>
            <a:off x="868680" y="4069080"/>
            <a:ext cx="1051560" cy="64008"/>
          </a:xfrm>
          <a:prstGeom prst="rect">
            <a:avLst/>
          </a:prstGeom>
          <a:solidFill>
            <a:srgbClr val="F5B8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4389120"/>
            <a:ext cx="5029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ptos"/>
              </a:rPr>
              <a:t>POWER BI REPORT PRESENTATION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4800600"/>
            <a:ext cx="6126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DCE6FA"/>
                </a:solidFill>
                <a:latin typeface="Aptos"/>
              </a:rPr>
              <a:t>Dashboard walkthrough • Key metrics • Business insights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6217920"/>
            <a:ext cx="7498079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BECDE6"/>
                </a:solidFill>
                <a:latin typeface="Aptos"/>
              </a:rPr>
              <a:t>Prepared from the supplied Power BI dashboard screenshot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0F1F5C"/>
                </a:solidFill>
                <a:latin typeface="Aptos"/>
              </a:rPr>
              <a:t>Dashboard at a Glance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41248"/>
            <a:ext cx="1078992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9758A"/>
                </a:solidFill>
                <a:latin typeface="Aptos"/>
              </a:rPr>
              <a:t>The report combines headline KPIs with time, product and sales-type visuals.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234440"/>
            <a:ext cx="914400" cy="54864"/>
          </a:xfrm>
          <a:prstGeom prst="rect">
            <a:avLst/>
          </a:prstGeom>
          <a:solidFill>
            <a:srgbClr val="2AB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09960" y="6473952"/>
            <a:ext cx="457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69758A"/>
                </a:solidFill>
                <a:latin typeface="Aptos"/>
              </a:rPr>
              <a:t>02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773783" y="1435607"/>
            <a:ext cx="8644127" cy="4910328"/>
          </a:xfrm>
          <a:prstGeom prst="roundRect">
            <a:avLst/>
          </a:prstGeom>
          <a:solidFill>
            <a:srgbClr val="FFFFFF"/>
          </a:solidFill>
          <a:ln>
            <a:solidFill>
              <a:srgbClr val="D2D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100028774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647" y="1490472"/>
            <a:ext cx="8534399" cy="48006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85800" y="6355080"/>
            <a:ext cx="10789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69758A"/>
                </a:solidFill>
                <a:latin typeface="Aptos"/>
              </a:rPr>
              <a:t>Filters visible: Year, Month, Sale Type and Payment Mode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0F1F5C"/>
                </a:solidFill>
                <a:latin typeface="Aptos"/>
              </a:rPr>
              <a:t>Headline Performance Indicators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41248"/>
            <a:ext cx="1078992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9758A"/>
                </a:solidFill>
                <a:latin typeface="Aptos"/>
              </a:rPr>
              <a:t>The KPI cards provide a quick summary before exploring the detailed charts.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234440"/>
            <a:ext cx="914400" cy="54864"/>
          </a:xfrm>
          <a:prstGeom prst="rect">
            <a:avLst/>
          </a:prstGeom>
          <a:solidFill>
            <a:srgbClr val="2AB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09960" y="6473952"/>
            <a:ext cx="457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69758A"/>
                </a:solidFill>
                <a:latin typeface="Aptos"/>
              </a:rPr>
              <a:t>03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2560320" cy="1554480"/>
          </a:xfrm>
          <a:prstGeom prst="roundRect">
            <a:avLst/>
          </a:prstGeom>
          <a:solidFill>
            <a:srgbClr val="EFF6FF"/>
          </a:solidFill>
          <a:ln>
            <a:solidFill>
              <a:srgbClr val="DCE7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645920"/>
            <a:ext cx="73152" cy="1554480"/>
          </a:xfrm>
          <a:prstGeom prst="rect">
            <a:avLst/>
          </a:prstGeom>
          <a:solidFill>
            <a:srgbClr val="1E5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810512"/>
            <a:ext cx="21945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69758A"/>
                </a:solidFill>
                <a:latin typeface="Aptos"/>
              </a:rPr>
              <a:t>TOTAL SALE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148840"/>
            <a:ext cx="21945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0F1F5C"/>
                </a:solidFill>
                <a:latin typeface="Aptos"/>
              </a:rPr>
              <a:t>195.98K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852928"/>
            <a:ext cx="219456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9758A"/>
                </a:solidFill>
                <a:latin typeface="Aptos"/>
              </a:rPr>
              <a:t>Displayed sales total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520440" y="1645920"/>
            <a:ext cx="2560320" cy="1554480"/>
          </a:xfrm>
          <a:prstGeom prst="roundRect">
            <a:avLst/>
          </a:prstGeom>
          <a:solidFill>
            <a:srgbClr val="EFF6FF"/>
          </a:solidFill>
          <a:ln>
            <a:solidFill>
              <a:srgbClr val="DCE7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520440" y="1645920"/>
            <a:ext cx="73152" cy="1554480"/>
          </a:xfrm>
          <a:prstGeom prst="rect">
            <a:avLst/>
          </a:prstGeom>
          <a:solidFill>
            <a:srgbClr val="2AB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721608" y="1810512"/>
            <a:ext cx="21945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69758A"/>
                </a:solidFill>
                <a:latin typeface="Aptos"/>
              </a:rPr>
              <a:t>QUANTITY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21608" y="2148840"/>
            <a:ext cx="21945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0F1F5C"/>
                </a:solidFill>
                <a:latin typeface="Aptos"/>
              </a:rPr>
              <a:t>2K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21608" y="2852928"/>
            <a:ext cx="219456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9758A"/>
                </a:solidFill>
                <a:latin typeface="Aptos"/>
              </a:rPr>
              <a:t>Total quantity indicator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09360" y="1645920"/>
            <a:ext cx="2560320" cy="1554480"/>
          </a:xfrm>
          <a:prstGeom prst="roundRect">
            <a:avLst/>
          </a:prstGeom>
          <a:solidFill>
            <a:srgbClr val="EFF6FF"/>
          </a:solidFill>
          <a:ln>
            <a:solidFill>
              <a:srgbClr val="DCE7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09360" y="1645920"/>
            <a:ext cx="73152" cy="1554480"/>
          </a:xfrm>
          <a:prstGeom prst="rect">
            <a:avLst/>
          </a:prstGeom>
          <a:solidFill>
            <a:srgbClr val="F5B8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10528" y="1810512"/>
            <a:ext cx="21945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69758A"/>
                </a:solidFill>
                <a:latin typeface="Aptos"/>
              </a:rPr>
              <a:t>PROFIT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10528" y="2148840"/>
            <a:ext cx="21945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0F1F5C"/>
                </a:solidFill>
                <a:latin typeface="Aptos"/>
              </a:rPr>
              <a:t>20K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10528" y="2852928"/>
            <a:ext cx="219456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9758A"/>
                </a:solidFill>
                <a:latin typeface="Aptos"/>
              </a:rPr>
              <a:t>Displayed profit total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098280" y="1645920"/>
            <a:ext cx="2331720" cy="1554480"/>
          </a:xfrm>
          <a:prstGeom prst="roundRect">
            <a:avLst/>
          </a:prstGeom>
          <a:solidFill>
            <a:srgbClr val="EFF6FF"/>
          </a:solidFill>
          <a:ln>
            <a:solidFill>
              <a:srgbClr val="DCE7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098280" y="1645920"/>
            <a:ext cx="73152" cy="1554480"/>
          </a:xfrm>
          <a:prstGeom prst="rect">
            <a:avLst/>
          </a:prstGeom>
          <a:solidFill>
            <a:srgbClr val="3296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299448" y="1810512"/>
            <a:ext cx="19659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69758A"/>
                </a:solidFill>
                <a:latin typeface="Aptos"/>
              </a:rPr>
              <a:t>PROFIT 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99448" y="2148840"/>
            <a:ext cx="19659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0F1F5C"/>
                </a:solidFill>
                <a:latin typeface="Aptos"/>
              </a:rPr>
              <a:t>12%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99448" y="2852928"/>
            <a:ext cx="196596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9758A"/>
                </a:solidFill>
                <a:latin typeface="Aptos"/>
              </a:rPr>
              <a:t>Profit percentage card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31520" y="3657600"/>
            <a:ext cx="10698480" cy="1920240"/>
          </a:xfrm>
          <a:prstGeom prst="roundRect">
            <a:avLst/>
          </a:prstGeom>
          <a:solidFill>
            <a:srgbClr val="F8FAFE"/>
          </a:solidFill>
          <a:ln>
            <a:solidFill>
              <a:srgbClr val="DC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05840" y="3913632"/>
            <a:ext cx="9966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F1F5C"/>
                </a:solidFill>
                <a:latin typeface="Aptos"/>
              </a:rPr>
              <a:t>How to explain these KPIs in a viva or presentation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51560" y="4389120"/>
            <a:ext cx="9875520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232D41"/>
                </a:solidFill>
                <a:latin typeface="Aptos"/>
              </a:rPr>
              <a:t>•  Total Sale: the overall sales value shown by the dashboard.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51560" y="4672583"/>
            <a:ext cx="9875520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232D41"/>
                </a:solidFill>
                <a:latin typeface="Aptos"/>
              </a:rPr>
              <a:t>•  Quantity: the total number of units represented in the report.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51560" y="4956047"/>
            <a:ext cx="9875520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232D41"/>
                </a:solidFill>
                <a:latin typeface="Aptos"/>
              </a:rPr>
              <a:t>•  Profit: the profit value displayed for the selected filters.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51560" y="5239511"/>
            <a:ext cx="9875520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232D41"/>
                </a:solidFill>
                <a:latin typeface="Aptos"/>
              </a:rPr>
              <a:t>•  Profit %: a percentage measure used to assess profitability.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7240" y="5989320"/>
            <a:ext cx="10698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9758A"/>
                </a:solidFill>
                <a:latin typeface="Aptos"/>
              </a:rPr>
              <a:t>Note: figures are transcribed from the screenshot; filters may change the displayed values.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0F1F5C"/>
                </a:solidFill>
                <a:latin typeface="Aptos"/>
              </a:rPr>
              <a:t>What Each Visual Tells 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41248"/>
            <a:ext cx="1078992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9758A"/>
                </a:solidFill>
                <a:latin typeface="Aptos"/>
              </a:rPr>
              <a:t>Use the charts together to understand when sales happen and what drives them.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234440"/>
            <a:ext cx="914400" cy="54864"/>
          </a:xfrm>
          <a:prstGeom prst="rect">
            <a:avLst/>
          </a:prstGeom>
          <a:solidFill>
            <a:srgbClr val="2AB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09960" y="6473952"/>
            <a:ext cx="457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69758A"/>
                </a:solidFill>
                <a:latin typeface="Aptos"/>
              </a:rPr>
              <a:t>04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00200"/>
            <a:ext cx="3154680" cy="1600200"/>
          </a:xfrm>
          <a:prstGeom prst="roundRect">
            <a:avLst/>
          </a:prstGeom>
          <a:solidFill>
            <a:srgbClr val="EFF6FF"/>
          </a:solidFill>
          <a:ln>
            <a:solidFill>
              <a:srgbClr val="DCE7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600200"/>
            <a:ext cx="73152" cy="1600200"/>
          </a:xfrm>
          <a:prstGeom prst="rect">
            <a:avLst/>
          </a:prstGeom>
          <a:solidFill>
            <a:srgbClr val="1E5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783080"/>
            <a:ext cx="2743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F1F5C"/>
                </a:solidFill>
                <a:latin typeface="Aptos"/>
              </a:rPr>
              <a:t>Sales / Profit by Month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221992"/>
            <a:ext cx="274320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232D41"/>
                </a:solidFill>
                <a:latin typeface="Aptos"/>
              </a:rPr>
              <a:t>Compares monthly sales value with profit. Use it to identify stronger and weaker months.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60520" y="1600200"/>
            <a:ext cx="3154680" cy="1600200"/>
          </a:xfrm>
          <a:prstGeom prst="roundRect">
            <a:avLst/>
          </a:prstGeom>
          <a:solidFill>
            <a:srgbClr val="EFF6FF"/>
          </a:solidFill>
          <a:ln>
            <a:solidFill>
              <a:srgbClr val="DCE7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160520" y="1600200"/>
            <a:ext cx="73152" cy="1600200"/>
          </a:xfrm>
          <a:prstGeom prst="rect">
            <a:avLst/>
          </a:prstGeom>
          <a:solidFill>
            <a:srgbClr val="2AB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61688" y="1783080"/>
            <a:ext cx="2743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F1F5C"/>
                </a:solidFill>
                <a:latin typeface="Aptos"/>
              </a:rPr>
              <a:t>Sales by Payment Mode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61688" y="2221992"/>
            <a:ext cx="274320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232D41"/>
                </a:solidFill>
                <a:latin typeface="Aptos"/>
              </a:rPr>
              <a:t>Shows how sales are split between payment methods such as cash and online.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89520" y="1600200"/>
            <a:ext cx="3154680" cy="1600200"/>
          </a:xfrm>
          <a:prstGeom prst="roundRect">
            <a:avLst/>
          </a:prstGeom>
          <a:solidFill>
            <a:srgbClr val="EFF6FF"/>
          </a:solidFill>
          <a:ln>
            <a:solidFill>
              <a:srgbClr val="DCE7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589520" y="1600200"/>
            <a:ext cx="73152" cy="1600200"/>
          </a:xfrm>
          <a:prstGeom prst="rect">
            <a:avLst/>
          </a:prstGeom>
          <a:solidFill>
            <a:srgbClr val="F5B8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90688" y="1783080"/>
            <a:ext cx="2743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F1F5C"/>
                </a:solidFill>
                <a:latin typeface="Aptos"/>
              </a:rPr>
              <a:t>Sales by Product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90688" y="2221992"/>
            <a:ext cx="274320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232D41"/>
                </a:solidFill>
                <a:latin typeface="Aptos"/>
              </a:rPr>
              <a:t>Ranks products by sales value so high-contributing products stand out.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3657600"/>
            <a:ext cx="3154680" cy="1600200"/>
          </a:xfrm>
          <a:prstGeom prst="roundRect">
            <a:avLst/>
          </a:prstGeom>
          <a:solidFill>
            <a:srgbClr val="EFF6FF"/>
          </a:solidFill>
          <a:ln>
            <a:solidFill>
              <a:srgbClr val="DCE7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31520" y="3657600"/>
            <a:ext cx="73152" cy="1600200"/>
          </a:xfrm>
          <a:prstGeom prst="rect">
            <a:avLst/>
          </a:prstGeom>
          <a:solidFill>
            <a:srgbClr val="5F73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2688" y="3840480"/>
            <a:ext cx="2743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F1F5C"/>
                </a:solidFill>
                <a:latin typeface="Aptos"/>
              </a:rPr>
              <a:t>Daily Sales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2688" y="4279392"/>
            <a:ext cx="274320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232D41"/>
                </a:solidFill>
                <a:latin typeface="Aptos"/>
              </a:rPr>
              <a:t>Shows day-wise movement and fluctuations, helping reveal peaks and low-activity days.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160520" y="3657600"/>
            <a:ext cx="3154680" cy="1600200"/>
          </a:xfrm>
          <a:prstGeom prst="roundRect">
            <a:avLst/>
          </a:prstGeom>
          <a:solidFill>
            <a:srgbClr val="EFF6FF"/>
          </a:solidFill>
          <a:ln>
            <a:solidFill>
              <a:srgbClr val="DCE7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160520" y="3657600"/>
            <a:ext cx="73152" cy="1600200"/>
          </a:xfrm>
          <a:prstGeom prst="rect">
            <a:avLst/>
          </a:prstGeom>
          <a:solidFill>
            <a:srgbClr val="3296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361688" y="3840480"/>
            <a:ext cx="2743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F1F5C"/>
                </a:solidFill>
                <a:latin typeface="Aptos"/>
              </a:rPr>
              <a:t>Sales by Types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61688" y="4279392"/>
            <a:ext cx="274320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232D41"/>
                </a:solidFill>
                <a:latin typeface="Aptos"/>
              </a:rPr>
              <a:t>Summarises the mix of sales types in a circular visual.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589520" y="3657600"/>
            <a:ext cx="3154680" cy="1600200"/>
          </a:xfrm>
          <a:prstGeom prst="roundRect">
            <a:avLst/>
          </a:prstGeom>
          <a:solidFill>
            <a:srgbClr val="EFF6FF"/>
          </a:solidFill>
          <a:ln>
            <a:solidFill>
              <a:srgbClr val="DCE7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589520" y="3657600"/>
            <a:ext cx="73152" cy="1600200"/>
          </a:xfrm>
          <a:prstGeom prst="rect">
            <a:avLst/>
          </a:prstGeom>
          <a:solidFill>
            <a:srgbClr val="C864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790688" y="3840480"/>
            <a:ext cx="2743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F1F5C"/>
                </a:solidFill>
                <a:latin typeface="Aptos"/>
              </a:rPr>
              <a:t>Sales by Category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90688" y="4279392"/>
            <a:ext cx="274320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232D41"/>
                </a:solidFill>
                <a:latin typeface="Aptos"/>
              </a:rPr>
              <a:t>Provides a category-level view to compare contribution across product groups.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0F1F5C"/>
                </a:solidFill>
                <a:latin typeface="Aptos"/>
              </a:rPr>
              <a:t>Filters &amp; Interactive Exploration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41248"/>
            <a:ext cx="1078992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9758A"/>
                </a:solidFill>
                <a:latin typeface="Aptos"/>
              </a:rPr>
              <a:t>Slicers let the viewer focus on a specific period or transaction segment.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234440"/>
            <a:ext cx="914400" cy="54864"/>
          </a:xfrm>
          <a:prstGeom prst="rect">
            <a:avLst/>
          </a:prstGeom>
          <a:solidFill>
            <a:srgbClr val="2AB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09960" y="6473952"/>
            <a:ext cx="457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69758A"/>
                </a:solidFill>
                <a:latin typeface="Aptos"/>
              </a:rPr>
              <a:t>05</a:t>
            </a:r>
          </a:p>
        </p:txBody>
      </p:sp>
      <p:sp>
        <p:nvSpPr>
          <p:cNvPr id="7" name="Oval 6"/>
          <p:cNvSpPr/>
          <p:nvPr/>
        </p:nvSpPr>
        <p:spPr>
          <a:xfrm>
            <a:off x="868680" y="1600200"/>
            <a:ext cx="502920" cy="502920"/>
          </a:xfrm>
          <a:prstGeom prst="ellipse">
            <a:avLst/>
          </a:prstGeom>
          <a:solidFill>
            <a:srgbClr val="1E5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655064"/>
            <a:ext cx="502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00200" y="1618488"/>
            <a:ext cx="2103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F1F5C"/>
                </a:solidFill>
                <a:latin typeface="Aptos"/>
              </a:rPr>
              <a:t>Year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1618488"/>
            <a:ext cx="71323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232D41"/>
                </a:solidFill>
                <a:latin typeface="Aptos"/>
              </a:rPr>
              <a:t>Select 2024 or 2025 to compare periods.</a:t>
            </a:r>
          </a:p>
        </p:txBody>
      </p:sp>
      <p:sp>
        <p:nvSpPr>
          <p:cNvPr id="11" name="Oval 10"/>
          <p:cNvSpPr/>
          <p:nvPr/>
        </p:nvSpPr>
        <p:spPr>
          <a:xfrm>
            <a:off x="868680" y="2560320"/>
            <a:ext cx="502920" cy="502920"/>
          </a:xfrm>
          <a:prstGeom prst="ellipse">
            <a:avLst/>
          </a:prstGeom>
          <a:solidFill>
            <a:srgbClr val="2AB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2615184"/>
            <a:ext cx="502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00200" y="2578608"/>
            <a:ext cx="2103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F1F5C"/>
                </a:solidFill>
                <a:latin typeface="Aptos"/>
              </a:rPr>
              <a:t>Month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0" y="2578608"/>
            <a:ext cx="71323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232D41"/>
                </a:solidFill>
                <a:latin typeface="Aptos"/>
              </a:rPr>
              <a:t>Choose a month to focus the charts on that period.</a:t>
            </a:r>
          </a:p>
        </p:txBody>
      </p:sp>
      <p:sp>
        <p:nvSpPr>
          <p:cNvPr id="15" name="Oval 14"/>
          <p:cNvSpPr/>
          <p:nvPr/>
        </p:nvSpPr>
        <p:spPr>
          <a:xfrm>
            <a:off x="868680" y="3520440"/>
            <a:ext cx="502920" cy="502920"/>
          </a:xfrm>
          <a:prstGeom prst="ellipse">
            <a:avLst/>
          </a:prstGeom>
          <a:solidFill>
            <a:srgbClr val="F5B8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3575304"/>
            <a:ext cx="502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00200" y="3538728"/>
            <a:ext cx="2103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F1F5C"/>
                </a:solidFill>
                <a:latin typeface="Aptos"/>
              </a:rPr>
              <a:t>Sale Type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0" y="3538728"/>
            <a:ext cx="71323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232D41"/>
                </a:solidFill>
                <a:latin typeface="Aptos"/>
              </a:rPr>
              <a:t>Filter by the type of sale represented in the data.</a:t>
            </a:r>
          </a:p>
        </p:txBody>
      </p:sp>
      <p:sp>
        <p:nvSpPr>
          <p:cNvPr id="19" name="Oval 18"/>
          <p:cNvSpPr/>
          <p:nvPr/>
        </p:nvSpPr>
        <p:spPr>
          <a:xfrm>
            <a:off x="868680" y="4480560"/>
            <a:ext cx="502920" cy="502920"/>
          </a:xfrm>
          <a:prstGeom prst="ellipse">
            <a:avLst/>
          </a:prstGeom>
          <a:solidFill>
            <a:srgbClr val="5F73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4535424"/>
            <a:ext cx="502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00200" y="4498848"/>
            <a:ext cx="2103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F1F5C"/>
                </a:solidFill>
                <a:latin typeface="Aptos"/>
              </a:rPr>
              <a:t>Payment Mode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0" y="4498848"/>
            <a:ext cx="71323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232D41"/>
                </a:solidFill>
                <a:latin typeface="Aptos"/>
              </a:rPr>
              <a:t>Focus on a particular payment method, such as cash or online.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14400" y="5623560"/>
            <a:ext cx="10287000" cy="566928"/>
          </a:xfrm>
          <a:prstGeom prst="roundRect">
            <a:avLst/>
          </a:prstGeom>
          <a:solidFill>
            <a:srgbClr val="0F1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43000" y="5779008"/>
            <a:ext cx="98755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Presentation tip: change one filter at a time and explain how the KPI cards and charts respond.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94360"/>
            <a:ext cx="45720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2ABEBE"/>
                </a:solidFill>
                <a:latin typeface="Aptos"/>
              </a:rPr>
              <a:t>KEY TAKEAWAYS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051560"/>
            <a:ext cx="7772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Aptos"/>
              </a:rPr>
              <a:t>From data to decisions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2057400"/>
            <a:ext cx="457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5B842"/>
                </a:solidFill>
                <a:latin typeface="Aptos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8760" y="2057400"/>
            <a:ext cx="88696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Aptos"/>
              </a:rPr>
              <a:t>Start with the KPI cards to understand the overall performance snapshot.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807208"/>
            <a:ext cx="457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5B842"/>
                </a:solidFill>
                <a:latin typeface="Aptos"/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08760" y="2807208"/>
            <a:ext cx="88696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Aptos"/>
              </a:rPr>
              <a:t>Use monthly and daily charts to examine sales patterns over time.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557015"/>
            <a:ext cx="457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5B842"/>
                </a:solidFill>
                <a:latin typeface="Aptos"/>
              </a:rPr>
              <a:t>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08760" y="3557015"/>
            <a:ext cx="88696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Aptos"/>
              </a:rPr>
              <a:t>Use product and category visuals to compare contribution across items.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4306824"/>
            <a:ext cx="457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5B842"/>
                </a:solidFill>
                <a:latin typeface="Aptos"/>
              </a:rPr>
              <a:t>04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08760" y="4306824"/>
            <a:ext cx="88696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Aptos"/>
              </a:rPr>
              <a:t>Apply slicers to investigate specific years, months, sale types and payment modes.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5623560"/>
            <a:ext cx="36576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2ABEBE"/>
                </a:solidFill>
                <a:latin typeface="Aptos"/>
              </a:rPr>
              <a:t>Thank You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6112" y="6236208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DCE6FA"/>
                </a:solidFill>
                <a:latin typeface="Aptos"/>
              </a:rPr>
              <a:t>Questions &amp; discussion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